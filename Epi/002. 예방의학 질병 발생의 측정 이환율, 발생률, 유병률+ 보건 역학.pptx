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예방의학 </a:t>
            </a:r>
            <a:r>
              <a:rPr lang="en-US" altLang="ko-KR" b="1" dirty="0"/>
              <a:t>2. </a:t>
            </a:r>
            <a:r>
              <a:rPr lang="ko-KR" altLang="en-US" b="1" dirty="0"/>
              <a:t>질병 발생의 측정</a:t>
            </a:r>
            <a:r>
              <a:rPr lang="en-US" altLang="ko-KR" b="1" dirty="0"/>
              <a:t>: </a:t>
            </a:r>
            <a:r>
              <a:rPr lang="ko-KR" altLang="en-US" b="1" dirty="0"/>
              <a:t>이환율</a:t>
            </a:r>
            <a:r>
              <a:rPr lang="en-US" altLang="ko-KR" b="1" dirty="0"/>
              <a:t>, </a:t>
            </a:r>
            <a:r>
              <a:rPr lang="ko-KR" altLang="en-US" b="1" dirty="0"/>
              <a:t>발생률</a:t>
            </a:r>
            <a:r>
              <a:rPr lang="en-US" altLang="ko-KR" b="1" dirty="0"/>
              <a:t>, </a:t>
            </a:r>
            <a:r>
              <a:rPr lang="ko-KR" altLang="en-US" b="1" dirty="0"/>
              <a:t>유병률</a:t>
            </a:r>
            <a:r>
              <a:rPr lang="en-US" altLang="ko-KR" b="1" dirty="0"/>
              <a:t>+ </a:t>
            </a:r>
            <a:r>
              <a:rPr lang="ko-KR" altLang="en-US" b="1" dirty="0"/>
              <a:t>보건 역학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E52C0E-3A1B-8CC8-B7A2-91B80002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604443"/>
            <a:ext cx="10317015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B348B7-4522-CB36-A9E9-F9F522EEA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313890"/>
            <a:ext cx="10936226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3AE858-AAFA-B0DC-7988-8F5C972D7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5" y="613969"/>
            <a:ext cx="11574490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B9CDC3-BC6D-3141-22A3-849F2F555123}"/>
              </a:ext>
            </a:extLst>
          </p:cNvPr>
          <p:cNvSpPr txBox="1"/>
          <p:nvPr/>
        </p:nvSpPr>
        <p:spPr>
          <a:xfrm>
            <a:off x="482600" y="825153"/>
            <a:ext cx="11518900" cy="518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ko-KR" altLang="en-US" b="0" i="0" dirty="0">
                <a:effectLst/>
                <a:latin typeface="se-nanumgothic"/>
              </a:rPr>
              <a:t>의학을 공부하는데 있어 이환</a:t>
            </a:r>
            <a:r>
              <a:rPr lang="en-US" altLang="ko-KR" b="0" i="0" dirty="0">
                <a:effectLst/>
                <a:latin typeface="se-nanumgothic"/>
              </a:rPr>
              <a:t>(morbidity)</a:t>
            </a:r>
            <a:r>
              <a:rPr lang="ko-KR" altLang="en-US" b="0" i="0" dirty="0">
                <a:effectLst/>
                <a:latin typeface="se-nanumgothic"/>
              </a:rPr>
              <a:t>이라는 개념은 매우 중요합니다</a:t>
            </a:r>
            <a:r>
              <a:rPr lang="en-US" altLang="ko-KR" b="0" i="0" dirty="0">
                <a:effectLst/>
                <a:latin typeface="se-nanumgothic"/>
              </a:rPr>
              <a:t>. </a:t>
            </a:r>
            <a:r>
              <a:rPr lang="ko-KR" altLang="en-US" b="0" i="0" dirty="0">
                <a:effectLst/>
                <a:latin typeface="se-nanumgothic"/>
              </a:rPr>
              <a:t>이환은 질병이나 건강 문제로 인해 발생하는 질병 상태를 의미합니다</a:t>
            </a:r>
            <a:r>
              <a:rPr lang="en-US" altLang="ko-KR" b="0" i="0" dirty="0">
                <a:effectLst/>
                <a:latin typeface="se-nanumgothic"/>
              </a:rPr>
              <a:t>. </a:t>
            </a:r>
            <a:r>
              <a:rPr lang="ko-KR" altLang="en-US" b="0" i="0" dirty="0">
                <a:effectLst/>
                <a:latin typeface="se-nanumgothic"/>
              </a:rPr>
              <a:t>즉 단순히 질병에 걸렸다는 것뿐만 아니라 그 질병으로 인해 일상생활에 어려움을 겪거나 건강 상태가 악화되는 모든 것을 포함하는 광범위한 개념이라고 할 수 있습니다</a:t>
            </a:r>
            <a:r>
              <a:rPr lang="en-US" altLang="ko-KR" b="0" i="0" dirty="0">
                <a:effectLst/>
                <a:latin typeface="se-nanumgothic"/>
              </a:rPr>
              <a:t>.</a:t>
            </a:r>
          </a:p>
          <a:p>
            <a:pPr algn="l" fontAlgn="base">
              <a:buNone/>
            </a:pPr>
            <a:r>
              <a:rPr lang="en-US" altLang="ko-KR" b="0" i="0" dirty="0">
                <a:effectLst/>
                <a:latin typeface="se-nanumgothic"/>
              </a:rPr>
              <a:t>​</a:t>
            </a:r>
          </a:p>
          <a:p>
            <a:pPr algn="l" fontAlgn="base">
              <a:buFont typeface="+mj-lt"/>
              <a:buAutoNum type="arabicPeriod"/>
            </a:pPr>
            <a:r>
              <a:rPr lang="ko-KR" altLang="en-US" b="0" i="0" dirty="0">
                <a:effectLst/>
                <a:latin typeface="se-nanumgothic"/>
              </a:rPr>
              <a:t>이환의 개념과 증상</a:t>
            </a:r>
            <a:endParaRPr lang="ko-KR" altLang="en-US" b="0" i="0" dirty="0">
              <a:effectLst/>
              <a:latin typeface="inherit"/>
            </a:endParaRPr>
          </a:p>
          <a:p>
            <a:pPr algn="l" fontAlgn="base">
              <a:buNone/>
            </a:pPr>
            <a:r>
              <a:rPr lang="ko-KR" altLang="en-US" b="0" i="0" dirty="0">
                <a:effectLst/>
                <a:latin typeface="se-nanumgothic"/>
              </a:rPr>
              <a:t>이환은 질병으로 인해 발생하는 여러 가지 증상과 징후를 통해 나타납니다</a:t>
            </a:r>
            <a:r>
              <a:rPr lang="en-US" altLang="ko-KR" b="0" i="0" dirty="0">
                <a:effectLst/>
                <a:latin typeface="se-nanumgothic"/>
              </a:rPr>
              <a:t>. </a:t>
            </a:r>
          </a:p>
          <a:p>
            <a:pPr algn="l" fontAlgn="base">
              <a:buNone/>
            </a:pPr>
            <a:r>
              <a:rPr lang="en-US" altLang="ko-KR" b="0" i="0" dirty="0">
                <a:effectLst/>
                <a:latin typeface="se-nanumgothic"/>
              </a:rPr>
              <a:t>​</a:t>
            </a:r>
          </a:p>
          <a:p>
            <a:pPr algn="l" fontAlgn="base">
              <a:buNone/>
            </a:pPr>
            <a:r>
              <a:rPr lang="ko-KR" altLang="en-US" b="0" i="0" dirty="0">
                <a:effectLst/>
                <a:latin typeface="se-nanumgothic"/>
              </a:rPr>
              <a:t>신체적 증상통증 발열 붓기 피로감 호흡곤란 메스꺼움 설사 두통 등 다양한 신체적 증상이 나타날 수 있습니다</a:t>
            </a:r>
            <a:r>
              <a:rPr lang="en-US" altLang="ko-KR" b="0" i="0" dirty="0">
                <a:effectLst/>
                <a:latin typeface="se-nanumgothic"/>
              </a:rPr>
              <a:t>.</a:t>
            </a:r>
          </a:p>
          <a:p>
            <a:pPr algn="l" fontAlgn="base">
              <a:buNone/>
            </a:pPr>
            <a:r>
              <a:rPr lang="ko-KR" altLang="en-US" b="0" i="0" dirty="0">
                <a:effectLst/>
                <a:latin typeface="se-nanumgothic"/>
              </a:rPr>
              <a:t>정신적 증상불안 우울증 불면증 집중력 저하 기억력 감퇴 인지 기능 저하 등 정신적인 어려움을 겪을 수도 있습니다</a:t>
            </a:r>
            <a:r>
              <a:rPr lang="en-US" altLang="ko-KR" b="0" i="0" dirty="0">
                <a:effectLst/>
                <a:latin typeface="se-nanumgothic"/>
              </a:rPr>
              <a:t>. </a:t>
            </a:r>
          </a:p>
          <a:p>
            <a:pPr algn="l" fontAlgn="base">
              <a:buNone/>
            </a:pPr>
            <a:r>
              <a:rPr lang="ko-KR" altLang="en-US" b="0" i="0" dirty="0">
                <a:effectLst/>
                <a:latin typeface="se-nanumgothic"/>
              </a:rPr>
              <a:t>사회적 증상직장이나 학교 생활에 지장을 초래하고 사회적 활동에 참여하는데 어려움을 느낄 수 있습니다</a:t>
            </a:r>
            <a:r>
              <a:rPr lang="en-US" altLang="ko-KR" b="0" i="0" dirty="0">
                <a:effectLst/>
                <a:latin typeface="se-nanumgothic"/>
              </a:rPr>
              <a:t>. </a:t>
            </a:r>
          </a:p>
          <a:p>
            <a:pPr algn="l" fontAlgn="base">
              <a:buNone/>
            </a:pPr>
            <a:r>
              <a:rPr lang="ko-KR" altLang="en-US" b="0" i="0" dirty="0">
                <a:effectLst/>
                <a:latin typeface="se-nanumgothic"/>
              </a:rPr>
              <a:t>경제적 증상치료비 </a:t>
            </a:r>
            <a:r>
              <a:rPr lang="ko-KR" altLang="en-US" b="0" i="0" dirty="0" err="1">
                <a:effectLst/>
                <a:latin typeface="se-nanumgothic"/>
              </a:rPr>
              <a:t>요양비</a:t>
            </a:r>
            <a:r>
              <a:rPr lang="ko-KR" altLang="en-US" b="0" i="0" dirty="0">
                <a:effectLst/>
                <a:latin typeface="se-nanumgothic"/>
              </a:rPr>
              <a:t> 등으로 경제적 부담을 느낄 수 있습니다</a:t>
            </a:r>
            <a:r>
              <a:rPr lang="en-US" altLang="ko-KR" b="0" i="0" dirty="0">
                <a:effectLst/>
                <a:latin typeface="se-nanumgothic"/>
              </a:rPr>
              <a:t>.</a:t>
            </a:r>
          </a:p>
          <a:p>
            <a:pPr algn="l" fontAlgn="base">
              <a:buNone/>
            </a:pPr>
            <a:r>
              <a:rPr lang="en-US" altLang="ko-KR" b="0" i="0" dirty="0">
                <a:effectLst/>
                <a:latin typeface="se-nanumgothic"/>
              </a:rPr>
              <a:t>​</a:t>
            </a:r>
          </a:p>
          <a:p>
            <a:pPr algn="l" fontAlgn="base">
              <a:buNone/>
            </a:pPr>
            <a:r>
              <a:rPr lang="ko-KR" altLang="en-US" b="0" i="0" dirty="0">
                <a:effectLst/>
                <a:latin typeface="se-nanumgothic"/>
              </a:rPr>
              <a:t>이러한 증상들은 질병의 종류 심각도 개인의 건강 상태 등에 따라 다르게 나타날 수 있습니다</a:t>
            </a:r>
            <a:r>
              <a:rPr lang="en-US" altLang="ko-KR" b="0" i="0" dirty="0">
                <a:effectLst/>
                <a:latin typeface="se-nanumgothic"/>
              </a:rPr>
              <a:t>. </a:t>
            </a:r>
          </a:p>
          <a:p>
            <a:pPr algn="l" fontAlgn="base">
              <a:buNone/>
            </a:pPr>
            <a:r>
              <a:rPr lang="en-US" altLang="ko-KR" b="0" i="0" dirty="0">
                <a:effectLst/>
                <a:latin typeface="se-nanumgothic"/>
              </a:rPr>
              <a:t>​</a:t>
            </a:r>
          </a:p>
          <a:p>
            <a:pPr algn="l" fontAlgn="base">
              <a:buNone/>
            </a:pPr>
            <a:r>
              <a:rPr lang="en-US" altLang="ko-KR" b="0" i="0" dirty="0">
                <a:effectLst/>
                <a:latin typeface="se-nanumgothic"/>
              </a:rPr>
              <a:t>2. </a:t>
            </a:r>
            <a:r>
              <a:rPr lang="ko-KR" altLang="en-US" b="0" i="0" dirty="0">
                <a:effectLst/>
                <a:latin typeface="se-nanumgothic"/>
              </a:rPr>
              <a:t>이환의 형태</a:t>
            </a:r>
          </a:p>
          <a:p>
            <a:pPr algn="l" fontAlgn="base">
              <a:buNone/>
            </a:pPr>
            <a:r>
              <a:rPr lang="ko-KR" altLang="en-US" b="0" i="0" dirty="0">
                <a:effectLst/>
                <a:latin typeface="se-nanumgothic"/>
              </a:rPr>
              <a:t>​</a:t>
            </a:r>
          </a:p>
          <a:p>
            <a:pPr algn="l" fontAlgn="base">
              <a:spcBef>
                <a:spcPts val="825"/>
              </a:spcBef>
              <a:spcAft>
                <a:spcPts val="525"/>
              </a:spcAft>
              <a:buNone/>
            </a:pPr>
            <a:r>
              <a:rPr lang="ko-KR" altLang="en-US" b="0" i="0" dirty="0">
                <a:effectLst/>
                <a:latin typeface="se-nanumgothic"/>
              </a:rPr>
              <a:t>이환은 크게 급성 이환과 만성 이환으로 나눌 수 있습니다</a:t>
            </a:r>
            <a:r>
              <a:rPr lang="en-US" altLang="ko-KR" b="0" i="0" dirty="0">
                <a:effectLst/>
                <a:latin typeface="se-nanumgothic"/>
              </a:rPr>
              <a:t>. </a:t>
            </a:r>
            <a:endParaRPr lang="ko-KR" altLang="en-US" b="0" i="0" dirty="0"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104CE5-351C-1E7E-D8E7-FBF841A57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347232"/>
            <a:ext cx="8954750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986668-D9FA-1BCD-209E-4BE38D03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537759"/>
            <a:ext cx="11041016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A0BB18-96D2-7640-7C5B-F6CD15C9B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0" y="556811"/>
            <a:ext cx="11107700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DE1D4D-15EE-3B0E-AD00-80CEEF9A1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0" y="385337"/>
            <a:ext cx="11107700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C97046-35FF-84B8-432D-3B4E17E1F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290074"/>
            <a:ext cx="10717121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F376C2-FB12-73A8-53BE-533FB89E9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6" y="556811"/>
            <a:ext cx="10726647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20F1E1-A315-C095-F11A-C7AE85E34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480601"/>
            <a:ext cx="11593543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EE0A37-34E0-93AB-DA62-8AA5A47FC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161469"/>
            <a:ext cx="9935962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FFEA22-05E6-C704-421E-1C8497D3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" y="394864"/>
            <a:ext cx="11212490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3D4A7D-CC0C-0347-24A6-B4EBC1EB4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5" y="633022"/>
            <a:ext cx="10250330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168</Words>
  <Application>Microsoft Office PowerPoint</Application>
  <PresentationFormat>와이드스크린</PresentationFormat>
  <Paragraphs>16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inherit</vt:lpstr>
      <vt:lpstr>se-nanumgothic</vt:lpstr>
      <vt:lpstr>Dotum</vt:lpstr>
      <vt:lpstr>맑은 고딕</vt:lpstr>
      <vt:lpstr>Arial</vt:lpstr>
      <vt:lpstr>Office 테마</vt:lpstr>
      <vt:lpstr>예방의학 2. 질병 발생의 측정: 이환율, 발생률, 유병률+ 보건 역학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2025-07-08T01:50:39Z</dcterms:modified>
</cp:coreProperties>
</file>